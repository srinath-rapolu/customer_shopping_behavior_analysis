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Hubot Sans"/>
      <p:regular r:id="rId17"/>
    </p:embeddedFont>
    <p:embeddedFont>
      <p:font typeface="Hubot Sans"/>
      <p:regular r:id="rId18"/>
    </p:embeddedFont>
    <p:embeddedFont>
      <p:font typeface="Roboto Condensed"/>
      <p:regular r:id="rId19"/>
    </p:embeddedFont>
    <p:embeddedFont>
      <p:font typeface="Roboto Condensed"/>
      <p:regular r:id="rId20"/>
    </p:embeddedFont>
    <p:embeddedFont>
      <p:font typeface="Roboto Condensed"/>
      <p:regular r:id="rId21"/>
    </p:embeddedFont>
    <p:embeddedFont>
      <p:font typeface="Roboto Condensed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Uncovering insights from transactional data to guide strategic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6104"/>
            <a:ext cx="62412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68673"/>
            <a:ext cx="4196358" cy="2394823"/>
          </a:xfrm>
          <a:prstGeom prst="roundRect">
            <a:avLst>
              <a:gd name="adj" fmla="val 6109"/>
            </a:avLst>
          </a:prstGeom>
          <a:solidFill>
            <a:srgbClr val="E8E8E3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638193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33285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349865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4235648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ANALYZE 3,900 PURCHASES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508039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Transactional data across product categories.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668673"/>
            <a:ext cx="4196358" cy="2394823"/>
          </a:xfrm>
          <a:prstGeom prst="roundRect">
            <a:avLst>
              <a:gd name="adj" fmla="val 6109"/>
            </a:avLst>
          </a:prstGeom>
          <a:solidFill>
            <a:srgbClr val="E8E8E3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3638193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33285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349865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4235648"/>
            <a:ext cx="31547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UNCOVER INSIGHTS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472606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Spending patterns, segments, preferences, subscriptions.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3668673"/>
            <a:ext cx="4196358" cy="2394823"/>
          </a:xfrm>
          <a:prstGeom prst="roundRect">
            <a:avLst>
              <a:gd name="adj" fmla="val 6109"/>
            </a:avLst>
          </a:prstGeom>
          <a:solidFill>
            <a:srgbClr val="E8E8E3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3638193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33285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349865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4235648"/>
            <a:ext cx="28691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GUIDE DECISIONS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472606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Inform business strategy with data-driven findings.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0625" y="507921"/>
            <a:ext cx="4722376" cy="554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DATASET SUMMARY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190625" y="3350181"/>
            <a:ext cx="2218968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POINTS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90625" y="3766423"/>
            <a:ext cx="4005620" cy="506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3,900 Rows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18 Columns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90625" y="4411590"/>
            <a:ext cx="2218968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FEATURES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90625" y="4827832"/>
            <a:ext cx="4005620" cy="759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Customer Demographics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Purchase Details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Shopping Behavior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014" y="1427321"/>
            <a:ext cx="7810262" cy="53437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37014" y="6781777"/>
            <a:ext cx="2218968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MISSING DATA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37014" y="7198020"/>
            <a:ext cx="7810262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37 values in Review Rating column.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12498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EXPLORATORY DATA ANALYSIS (PYTHON)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30677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Loading, initial exploration, missing data handling.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COLUMN STANDARDIZATION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22255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Renamed to snake_case for readability.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6714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Created age_group, purchase_frequency_days.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31083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CONSISTENCY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Dropped redundant promo_code_used.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8773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Loaded cleaned data into PostgreSQL.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48803" y="461129"/>
            <a:ext cx="4529495" cy="495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ANALYSIS (SQL)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48803" y="3686651"/>
            <a:ext cx="2907506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BUSINESS QUESTIONS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848803" y="4044672"/>
            <a:ext cx="3575209" cy="10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Revenue by Gender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High-Spending Discount Users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Top 5 Products by Rating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Shipping Type Comparison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Subscribers vs. Non-Subscribers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8108" y="1246584"/>
            <a:ext cx="6970871" cy="47695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18108" y="5985927"/>
            <a:ext cx="2589490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ADDITIONAL INSIGHTS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818108" y="6343948"/>
            <a:ext cx="6970871" cy="10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Discount-Dependent Products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Customer Segmentation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Top 3 Products per Category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Repeat Buyers &amp; Subscriptions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Revenue by Age Group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423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REVENUE &amp; SPENDING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1337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$157,890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4245173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MALE REVENUE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5089922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Significantly higher than female revenue.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893493" y="321337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$75,191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4245173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FEMALE REVENUE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3493" y="5089922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Identified for targeted strategies.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06795" y="321337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839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4245173"/>
            <a:ext cx="23298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HIGH-SPENDING DISCOUNT USERS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6795" y="5798582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Customers using discounts, spending above average.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5167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PRODUCT &amp; SHIPPING PERFORMANCE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036213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TOP 5 PRODUCTS BY RATING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971687"/>
            <a:ext cx="3501509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Gloves (3.86)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Sandals (3.84)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Boots (3.82)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Hat (3.80)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Skirt (3.78)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036213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SHIPPING TYPE COMPARISON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3971687"/>
            <a:ext cx="3501509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Standard: $58.46 Avg. Purchase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Express: $60.48 Avg. Purchase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4924350"/>
            <a:ext cx="350150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DISCOUNT-DEPENDENT PRODUCTS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42721" y="5897082"/>
            <a:ext cx="3501509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Hat (50%)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Sneakers (49.66%)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812" y="613410"/>
            <a:ext cx="13068776" cy="1394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CUSTOMER SEGMENTATION &amp; SUBSCRIPTIONS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793438" y="4316373"/>
            <a:ext cx="2788563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NEW CUSTOMERS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80812" y="4796433"/>
            <a:ext cx="3801189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83 customers identified.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8128" y="2446377"/>
            <a:ext cx="4574024" cy="457402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7241" y="4566404"/>
            <a:ext cx="333732" cy="3337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6718" y="3089196"/>
            <a:ext cx="376928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RETURNING CUSTOMERS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9936718" y="3569256"/>
            <a:ext cx="3912870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701 customers.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128" y="2446377"/>
            <a:ext cx="4574024" cy="4574024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8613" y="3179921"/>
            <a:ext cx="333732" cy="3337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6718" y="5543431"/>
            <a:ext cx="2865358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LOYAL CUSTOMERS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9936718" y="6023491"/>
            <a:ext cx="3912870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3,116 customers.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8128" y="2446377"/>
            <a:ext cx="4574024" cy="4574024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48613" y="5952887"/>
            <a:ext cx="333732" cy="3337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80812" y="7267218"/>
            <a:ext cx="1306877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Repeat buyers with &gt;5 purchases: 958 subscribers vs. 2518 non-subscribers.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426744"/>
            <a:ext cx="70401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475684"/>
            <a:ext cx="4196358" cy="1162288"/>
          </a:xfrm>
          <a:prstGeom prst="roundRect">
            <a:avLst>
              <a:gd name="adj" fmla="val 292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5702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3.9K CUSTOMERS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216962" y="5475684"/>
            <a:ext cx="4196358" cy="1162288"/>
          </a:xfrm>
          <a:prstGeom prst="roundRect">
            <a:avLst>
              <a:gd name="adj" fmla="val 292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443776" y="5702498"/>
            <a:ext cx="34579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$59.76 AVG. PURCHASE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640133" y="5475684"/>
            <a:ext cx="4196358" cy="1162288"/>
          </a:xfrm>
          <a:prstGeom prst="roundRect">
            <a:avLst>
              <a:gd name="adj" fmla="val 292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866948" y="5702498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3.75 AVG. REVIEW RATING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620" y="660440"/>
            <a:ext cx="9418439" cy="687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BUSINESS RECOMMENDATIONS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2011" y="1780639"/>
            <a:ext cx="329803" cy="329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4114" y="1773912"/>
            <a:ext cx="3631168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BOOST SUBSCRIPTIONS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484114" y="2245400"/>
            <a:ext cx="1237666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Promote exclusive benefits.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011" y="3024961"/>
            <a:ext cx="329803" cy="3298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4114" y="3018234"/>
            <a:ext cx="4769644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CUSTOMER LOYALTY PROGRAMS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484114" y="3489722"/>
            <a:ext cx="1237666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Reward repeat buyers.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011" y="4269284"/>
            <a:ext cx="329803" cy="3298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4114" y="4262557"/>
            <a:ext cx="4131588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REVIEW DISCOUNT POLICY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484114" y="4734044"/>
            <a:ext cx="1237666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Balance sales with margins.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011" y="5513606"/>
            <a:ext cx="329803" cy="3298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84114" y="5506879"/>
            <a:ext cx="3666411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PRODUCT POSITIONING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1484114" y="5978366"/>
            <a:ext cx="1237666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Highlight top-rated items.</a:t>
            </a:r>
            <a:endParaRPr lang="en-US" sz="1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2011" y="6757928"/>
            <a:ext cx="329803" cy="32980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84114" y="6751201"/>
            <a:ext cx="3497699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TARGETED MARKETING</a:t>
            </a:r>
            <a:endParaRPr lang="en-US" sz="2150" dirty="0"/>
          </a:p>
        </p:txBody>
      </p:sp>
      <p:sp>
        <p:nvSpPr>
          <p:cNvPr id="17" name="Text 10"/>
          <p:cNvSpPr/>
          <p:nvPr/>
        </p:nvSpPr>
        <p:spPr>
          <a:xfrm>
            <a:off x="1484114" y="7222688"/>
            <a:ext cx="1237666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Focus on high-revenue age groups.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2026-02-02T00:50:16Z</dcterms:created>
  <dcterms:modified xsi:type="dcterms:W3CDTF">2026-02-02T00:50:16Z</dcterms:modified>
</cp:coreProperties>
</file>